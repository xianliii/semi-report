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714232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Vol.01 / No.15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WEEKLY BRIEFING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MATCH Act 冲击波，设备股剧烈震荡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7432" cy="6400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美国国会推出新芯片设备出口管制法案，ASML 单日跌近 5%；AMAT 发布两款 GAA 2nm 沉积系统，股价反弹 8%；中国设备厂商在 SEMICON China 密集发布新品。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5943600"/>
            <a:ext cx="1072591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半导体工艺装备行业追踪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内部参考 · 每周一刊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360152" y="6035040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78440" y="6053328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本周速览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WEEKLY DIGEST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4904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51560" y="1508760"/>
            <a:ext cx="50292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1508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645920" y="146304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美国众议院推出 MATCH Act，拟封堵 ASML DUV 对华出口通道，ASML 单日跌 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01168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0848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51560" y="2103120"/>
            <a:ext cx="50292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AMAT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645920" y="205740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Applied Materials 发布两款面向 GAA 2nm 的沉积系统，股价当日涨 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60604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791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51560" y="2697480"/>
            <a:ext cx="50292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24" name="Text 22"/>
          <p:cNvSpPr/>
          <p:nvPr/>
        </p:nvSpPr>
        <p:spPr>
          <a:xfrm>
            <a:off x="1078992" y="2697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SEMI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645920" y="265176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 发布数据：2025 全球半导体设备销售 $1,351 亿，预计 2027 年达 $1,560 亿创新高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20040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273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51560" y="3291840"/>
            <a:ext cx="50292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29" name="Text 27"/>
          <p:cNvSpPr/>
          <p:nvPr/>
        </p:nvSpPr>
        <p:spPr>
          <a:xfrm>
            <a:off x="1078992" y="32918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CHINA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645920" y="3246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北方华创、中微公司在 SEMICON China 2026 密集发布新品，北方华创 2026 年订单目标 600 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379476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8679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1560" y="3886200"/>
            <a:ext cx="50292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34" name="Text 32"/>
          <p:cNvSpPr/>
          <p:nvPr/>
        </p:nvSpPr>
        <p:spPr>
          <a:xfrm>
            <a:off x="1078992" y="38862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HIGH-NA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645920" y="384048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Imec 接收 ASML EXE:5200 High-NA EUV 系统，预计 Q4 完成验证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市场脉搏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PULSE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417320"/>
            <a:ext cx="36576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SOX 费城半导体指数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28632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7,877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14232" y="17647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52W High: 8,498 · -7.3% off peak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31520" y="2148840"/>
            <a:ext cx="5294376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24028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AMAT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68680" y="2377440"/>
            <a:ext cx="5020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Applied Materials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$352.62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289864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+8.0% (Apr 8)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044952"/>
            <a:ext cx="5020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GAA 新品发布提振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63056" y="2148840"/>
            <a:ext cx="5294376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0216" y="224028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LRCX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300216" y="2377440"/>
            <a:ext cx="5020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Lam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0216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$235.00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0216" y="289864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+9.5% (Apr 8)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0216" y="3044952"/>
            <a:ext cx="5020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YTD +37.6%，连续四季超预期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3337560"/>
            <a:ext cx="5294376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42900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ASML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68680" y="3566160"/>
            <a:ext cx="5020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ASML Holding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$1,317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68680" y="408736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-4.7% (Apr 7)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" y="4233672"/>
            <a:ext cx="5020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MATCH Act 冲击，中国营收占 29%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63056" y="3337560"/>
            <a:ext cx="5294376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342900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KLAC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00216" y="3566160"/>
            <a:ext cx="5020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KLA Corporation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0216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$1,661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300216" y="408736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+7.4% (Apr 8)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0216" y="4233672"/>
            <a:ext cx="5020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YTD +30.3%，$70 亿回购计划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设备巨头动态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EQUIPMENT GIANTS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Applied Materials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71432" y="1463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NASDAQ: AMAT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1737360"/>
            <a:ext cx="36576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737360"/>
            <a:ext cx="10588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4 月 8 日发布 Precision Selective Nitride PECVD 和 Trillium ALD 两款沉积系统，面向 GAA 2nm 及以下节点的原子级精度制造。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2402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25880" y="2240280"/>
            <a:ext cx="10131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新品发布后股价当日大涨约 8%，市场反应积极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514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325880" y="2514600"/>
            <a:ext cx="10131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Q1 FY2026 EPS $2.38（超预期 $0.17），营收 $70.1 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788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展望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25880" y="2788920"/>
            <a:ext cx="10131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管理层预计 2026 年半导体行业增长 20%+，DRAM 领涨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Lam Research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71432" y="3291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NASDAQ: LRCX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3566160"/>
            <a:ext cx="36576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566160"/>
            <a:ext cx="10588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连续四个季度超预期，Q2 FY2026 营收 $53.4 亿（同比 +22%），Q3 指引 $57 亿显示持续加速。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7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325880" y="4069080"/>
            <a:ext cx="10131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Morgan Stanley 上调目标价至 $260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343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22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25880" y="4343400"/>
            <a:ext cx="10131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即将发布 Q3 财报，关注 GAA 节奏及中国收入占比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ASML Holding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14232" y="685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EURONEXT: ASML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31520" y="960120"/>
            <a:ext cx="36576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96012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MATCH Act 冲击下股价单日跌 4.7%，但随后因美伊停火反弹 6.35%。High-NA EUV 进入商用部署阶段。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5087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订单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17320" y="1508760"/>
            <a:ext cx="10040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SK Hynix 承诺 $80 亿采购 ~30 台 EUV；Samsung 计划 $40 亿采购 ~20 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High-NA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17320" y="1828800"/>
            <a:ext cx="10040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首批商用 EXE:5200B 已交付 Intel，2026 预计出货 5-10 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1488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15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17320" y="2148840"/>
            <a:ext cx="10040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Q1 财报发布 | 指引：2026 净销售额 340-390 亿欧元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51460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Tokyo Electron / KLA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14232" y="27432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TSE: 8035 / NASDAQ: KLAC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31520" y="30175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3017520"/>
            <a:ext cx="10040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先进芯片设备占比提升至 40%，资本支出增 48% 至 2400 亿日元创新高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3375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KLA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17320" y="3337560"/>
            <a:ext cx="10040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宣布 $70 亿回购计划，连续第 17 年提高股息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70332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前沿技术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 FRONTIER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GAA 与背面供电进入量产倒计时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TSMC N2P（2nm + 背面供电）计划 2026 下半年投产；A16（1.6nm + Super Power Rail）紧随其后。背面供电可降低电压降和供电噪声，但与 GAA 集成带来应力管理挑战。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0604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High-NA EUV 从研发走向量产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Imec 接收 EXE:5200 系统（3 月 18 日），Q4 完成验证。Intel 安装商用 EXE:5200B 用于 14A 节点。2026 年预计交付 5-10 台，2028 年增至 20+ 台。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 全球设备支出展望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300mm 设备支出预计 2026 年增长 18% 至 $1,330 亿，2027 年增长 14% 至 $1,510 亿。AI、先进逻辑、存储及先进封装为主要驱动力。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84632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中国半导体动态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CHINA SEMICONDUCTOR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北方华创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444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002371.SZ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31520" y="169164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新品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34440" y="169164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12 英寸 NMC612H ICP 刻蚀、Qomola HPD30 混合键合、Ausip T830 TSV 电镀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20574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验证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34440" y="20574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刻蚀设备已在 SMIC 7nm 产线测试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514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中微公司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542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688012.SH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31520" y="27889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新品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34440" y="278892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Primo Angnova ICP 刻蚀、Primo Domingo 高选择性刻蚀、Smart RF Match、Preciomo Udx Micro LED MOCVD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246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新凯来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2735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深圳国资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31520" y="352044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新品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34440" y="352044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 China 发布 EPI、ALD、PVD、ETCH、CVD 五款设备，对标 5nm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盛合晶微半导体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40050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IPO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9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34440" y="425196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科创板 IPO，发行价 19.68 元/股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709160"/>
            <a:ext cx="10725912" cy="82296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709160"/>
            <a:ext cx="36576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75488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 &amp; OUTLOOK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68680" y="489204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中国要求新建产能使用不低于 50% 国产设备，目标 2030 年半导体自给率达 80%（现约 33%）。SMIC 发布 2026 行动计划聚焦供应链本土化。2025 年中国 WFE 预计同比 -13%，2026 年回升 +5%。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学术与研究前沿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ACADEMIC &amp; RESEARCH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Imec 120 层 Si/SiGe 外延堆叠突破 3D DRAM 瓶颈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67335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Imec 联合根特大学在 300mm 晶圆上成功堆叠 120 层交替 Si/SiGe 双层（共 241 子层），发表于 Journal of Applied Physics。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4144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Nature Electronics: 碳纳米管晶体管突破 1 THz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基于对齐碳纳米管薄膜的 MOSFET 实现截止频率超 1 THz，栅极长度 80nm，载流子迁移率超 3,000 cm²/V·s。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65576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Imec + Diraq: 工厂制造硅量子比特达 99%+ 保真度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2160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在标准半导体产线上制造的硅量子比特一致性超过 99% 精度，发表于 Nature。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379976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89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CFET（互补 FET）路线图加速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745736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Imec 推进 CFET 单片集成与顺序集成方案。全芯片评估显示 CFET 相比 Nanosheet FET 可实现面积缩减 ~55%、功耗降低 ~29%。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404104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 与智能化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&amp; SMART MANUFACTURING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Intel 将 AI 嵌入晶圆厂核心流程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67335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 缺陷检测精度已超人工检测员，NVIDIA NV-DINOv2 视觉模型达 98.5% die 级缺陷分类精度。先进逻辑晶圆厂每 1% 良率提升 ≈ $1.5 亿利润。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4144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EDA 进入 Agent 时代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Cadence 发布 ChipStack AI Agent（10x 生产力），Synopsys 推出 AgentEngineer。NVIDIA 投资 $20 亿入股 Synopsys。新锐 Cognichip 融资 $6,000 万。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65576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 芯片新品密集发布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2160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Samsung 出货首批商用 HBM4（11.7 Gbps）；Microsoft Maia 200 推理加速器（TSMC 3nm）；韩国 Rebellions 完成 $4 亿 Pre-IPO；华为 950PR 推理芯片获字节、阿里大单。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379976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89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RISC-V 进入量产汽车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745736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Bosch、Infineon、Nordic、NXP、Qualcomm 五家成立德国合资公司聚焦车规 RISC-V。零跑 LingXin01 SoC 用于 ADAS；长城紫荆 M100 MCU 已搭载新车型。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404104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政策与地缘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 &amp; GEOPOLITICS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91440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417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U.S. CONGRESS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31520" y="1673352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MATCH Act：封堵 DUV 对华出口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19202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4 月 2 日众议院推出 MATCH Act，目标收紧 ASML DUV 光刻机对华出口，施压荷兰、日本盟友全面对齐美国管制标准。JPMorgan 估计若实施，ASML EPS 可能下降 10%。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88920"/>
            <a:ext cx="91440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889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U.S. TARIFF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731520" y="3044952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Section 232 半导体关税生效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2918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1 月 15 日起对特定先进芯片征收 25% 关税（涵盖 Nvidia H200、AMD MI325X 等），但豁免数据中心、研发等场景。7 月 1 日将评估是否扩大范围。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160520"/>
            <a:ext cx="914400" cy="182880"/>
          </a:xfrm>
          <a:prstGeom prst="rect">
            <a:avLst>
              <a:gd name="adj" fmla="val 10000"/>
            </a:avLst>
          </a:prstGeom>
          <a:solidFill>
            <a:srgbClr val="F5F5F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605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CHIPS ACT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31520" y="4416552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CHIPS Act 税收优惠面临到期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TSMC 宣布追加 $1,000 亿美国投资。但 Section 48D 先进制造投资税收抵免将于 2026 年到期，续期前景不明。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39496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532120"/>
            <a:ext cx="10725912" cy="73152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532120"/>
            <a:ext cx="36576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577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FAB EXPANSION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68680" y="5715000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TSMC 亚利桑那规模扩大至最多 12 座晶圆厂 + 4 座先进封装厂；台湾同步推进 10 座新厂。全球 2025 年新开工 18 个晶圆厂项目（3 座 200mm + 15 座 300mm），美洲和日本各 4 个领跑。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值得一读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WORTH READING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417320"/>
            <a:ext cx="10268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SEMI: Global 300mm Fab Equipment Spending to Reach $151B by 2027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64592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SEMI.org · Apr 8, 2026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88720" y="1801368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 最新预测报告，详细拆解各地区、各环节设备投资趋势。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24028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331720"/>
            <a:ext cx="10268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Backside Power Delivery Nears Production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56032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SemiEngineering · Mar 2026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88720" y="2715768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深度解析背面供电技术的量产挑战，涵盖 TSMC、Intel、Samsung 的不同技术路线。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15468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46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10268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THz Carbon Nanotube Transistors — Nature Electronics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47472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Nature Electronics · 2026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88720" y="3630168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碳纳米管 MOSFET 截止频率突破 1 THz，后硅时代高频器件里程碑。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06908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60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160520"/>
            <a:ext cx="10268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MATCH Act: What It Means for Semiconductor Equipment Exports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38912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Bloomberg · Apr 2, 2026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88720" y="4544568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法案全文解读与影响分析，重点关注对 ASML DUV 业务及日荷盟友的连锁反应。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4983480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SEMICONDUCTOR WEEKLY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714232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2026.04.07 — 04.09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"/>
            <a:ext cx="10725912" cy="0"/>
          </a:xfrm>
          <a:prstGeom prst="line">
            <a:avLst/>
          </a:prstGeom>
          <a:noFill/>
          <a:ln w="63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7395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510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543032" y="6510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31520" y="640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关键日程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0725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UPCOMING EVENTS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15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1417320"/>
            <a:ext cx="0" cy="32004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417320"/>
            <a:ext cx="9628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ASML Q1 2026 财报发布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76479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874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22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1874520"/>
            <a:ext cx="0" cy="32004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1874520"/>
            <a:ext cx="9628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Lam Research Q3 FY2026 财报发布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22199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22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91640" y="2331720"/>
            <a:ext cx="0" cy="32004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331720"/>
            <a:ext cx="9628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ASML 年度股东大会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67919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24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2788920"/>
            <a:ext cx="0" cy="32004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788920"/>
            <a:ext cx="9628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ASML 每股 2.70 欧元现金股息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13639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29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91640" y="3246120"/>
            <a:ext cx="0" cy="32004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3246120"/>
            <a:ext cx="9628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KLA Q3 FY2026 财报发布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59359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 30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91640" y="3703320"/>
            <a:ext cx="0" cy="32004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3703320"/>
            <a:ext cx="9628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Tokyo Electron 全年财报发布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05079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Jun 14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91640" y="4160520"/>
            <a:ext cx="0" cy="32004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4160520"/>
            <a:ext cx="9628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VLSI Symposium 2026 檀香山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4507992"/>
            <a:ext cx="10725912" cy="0"/>
          </a:xfrm>
          <a:prstGeom prst="line">
            <a:avLst/>
          </a:prstGeom>
          <a:noFill/>
          <a:ln w="381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2026-04-10T00:04:43Z</dcterms:created>
  <dcterms:modified xsi:type="dcterms:W3CDTF">2026-04-10T00:04:43Z</dcterms:modified>
</cp:coreProperties>
</file>